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4" r:id="rId3"/>
    <p:sldId id="265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BDFDD5-AEC8-7105-C56D-40E74F0C9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FFC752-F497-353C-3E0F-036826425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946FDB-ECE7-8B2C-F4AF-87C27E75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7C6A44-910E-D57F-3E10-C12935D08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534F49-02ED-4F81-289C-68824964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7371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B1E3A5-9FD1-22D0-A97F-23E05DD3D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615739-9047-FEA9-9358-66CCF6434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4D278E-2AD8-8D67-51D8-AAEE4FB4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80935E-4C27-88F9-C685-52BD0764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6E05D9-DA05-27DC-EFFD-C741E6DD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22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12145A-1B48-EED7-F937-ED10F387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B4DB0-C4CE-F66F-6462-0CA7BE5A3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245B5C-A286-25C5-0F86-CD8BACE00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2717EA-AB6B-BBC4-8865-738DC842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FA7849-15A9-E77D-EB4B-82CBF277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95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85540-3081-B386-AE21-2C02844D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6AE572-2ACA-A0A3-54F7-3EB9AE817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719F36E-3ECA-F1B7-F28B-1204BDAD6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BA499A-E52B-F497-D790-6D8219F1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36FA4E-AB5E-4BCA-9F34-10AA0B9E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7CDA0C-BA36-74D3-4FEE-7022683D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7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FD6DF-95A3-7E11-EAD4-0315B5875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EDE8C4-C2C4-A0BD-AEB6-FCEA131F1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C0E71E-4828-7E34-E6BC-49FE71C75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BCC598-AA34-C128-A00A-28FC7020D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CE5030D-1180-18B9-D28A-818D776CB1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3B23FD7-BCDB-0579-7999-E64EA7778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BE5785B-2849-6201-B9FE-AF080469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0CAD3D8-A4BE-5D3C-6F38-45CB99C5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91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D9A7DF-F4D0-8AF8-A061-EF0A56A4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7719CE9-2D83-E863-DF18-0A91631C6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0C562C-53DB-0C79-38FE-3B5D2E08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F2A655-4BBD-EA05-2DE3-257BE304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9311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C8438A9-9698-DDAC-3995-B18D6C057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2B339EE-D1BA-4779-B260-80735E77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163C62-007E-B9A5-2F2F-F1E22FF8B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21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9B243B-7578-1CF9-5DE8-ABB76AA7F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69275B-95A0-2F9E-7294-7F745108F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33B5EC6-4548-7B30-F81F-96CEDC88F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14703B-3C83-BF25-89C4-E82A6FEE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84CA6C-F9D7-73B9-92D0-7FE436BD9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C5FD9D-10BA-6859-E666-12AE6E2F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6799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3FD48A-7CF9-1D42-665B-5E33AFCD8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BD0CF04-88AA-F1FF-FAE9-59059DB9B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D312A6E-F416-A946-B641-205992355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C22539-F68F-8E40-B37C-15B25CACC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83028B-CF71-E732-1D4C-497358A8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2752B4-A447-D005-395F-6A46D04A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5504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B5B1D-7ACC-9914-7BDA-BAE524D7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8AD9C3-772B-AD4F-B761-B0029E371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7946CA-6F79-A119-2E57-66488634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FD8A5B-D3CF-5500-7D9B-B15AF9BD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0386FF-CDA6-5E7C-2180-8ECE53A7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26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2341D30-1E28-2DA6-99EE-DE4EB7968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90F201C-C7B6-1DE3-1384-A46D58EF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2B202D-0B12-DBFC-7E68-11DE1372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B13480-92EB-DEF2-5B2B-C43B5CD0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935A60-E099-EEB9-DC0C-C8A6C2B1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9382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4566328-31BB-7F4D-0EFF-4433247DC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48FA2B-6DAF-3EF3-8196-D707D41DF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11F1D6-70A9-7157-A38D-CBC4E3D8D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30D6E-8026-458F-AE61-B945DF15BAB5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8B0B27-2B7F-C148-8E87-B62EE1EC0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66CE32-E2FD-FF4B-F6B0-45FE5EF0B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9461E-F42C-4CCF-AAED-40743E9928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59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15357-0E3D-C33B-B362-32DC82F3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 : coins arrondis 81">
            <a:extLst>
              <a:ext uri="{FF2B5EF4-FFF2-40B4-BE49-F238E27FC236}">
                <a16:creationId xmlns:a16="http://schemas.microsoft.com/office/drawing/2014/main" id="{54993C50-DC56-86C3-5C86-342098F94DF6}"/>
              </a:ext>
            </a:extLst>
          </p:cNvPr>
          <p:cNvSpPr/>
          <p:nvPr/>
        </p:nvSpPr>
        <p:spPr>
          <a:xfrm flipH="1">
            <a:off x="216981" y="4331770"/>
            <a:ext cx="1076818" cy="25716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1000" dirty="0">
                <a:solidFill>
                  <a:schemeClr val="tx1"/>
                </a:solidFill>
              </a:rPr>
              <a:t>Image annotée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264E6B5-7525-D0F3-2B24-955B706F48B2}"/>
              </a:ext>
            </a:extLst>
          </p:cNvPr>
          <p:cNvSpPr/>
          <p:nvPr/>
        </p:nvSpPr>
        <p:spPr>
          <a:xfrm>
            <a:off x="4994812" y="323960"/>
            <a:ext cx="2880000" cy="5400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TASK 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Acquisition vidéo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82B7057-91B8-5C37-7EC4-3CB6F02B10DD}"/>
              </a:ext>
            </a:extLst>
          </p:cNvPr>
          <p:cNvSpPr/>
          <p:nvPr/>
        </p:nvSpPr>
        <p:spPr>
          <a:xfrm>
            <a:off x="4994812" y="990836"/>
            <a:ext cx="2880000" cy="5400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TASK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Détordre l’image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C5448190-3A39-631D-DA11-9CB34911AF5B}"/>
              </a:ext>
            </a:extLst>
          </p:cNvPr>
          <p:cNvSpPr/>
          <p:nvPr/>
        </p:nvSpPr>
        <p:spPr>
          <a:xfrm>
            <a:off x="4994812" y="2329932"/>
            <a:ext cx="2880000" cy="5400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TASK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Trouver les coordonnées terrain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9B0DD89-6069-4137-72CA-4CBDB379BA1D}"/>
              </a:ext>
            </a:extLst>
          </p:cNvPr>
          <p:cNvSpPr/>
          <p:nvPr/>
        </p:nvSpPr>
        <p:spPr>
          <a:xfrm>
            <a:off x="8421935" y="862340"/>
            <a:ext cx="1048365" cy="25699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Image caméra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AB47619C-18C9-EB83-E644-4D556A12423B}"/>
              </a:ext>
            </a:extLst>
          </p:cNvPr>
          <p:cNvSpPr/>
          <p:nvPr/>
        </p:nvSpPr>
        <p:spPr>
          <a:xfrm>
            <a:off x="4855300" y="41384"/>
            <a:ext cx="3175000" cy="2939941"/>
          </a:xfrm>
          <a:prstGeom prst="roundRect">
            <a:avLst>
              <a:gd name="adj" fmla="val 4667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THREAD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F81DC750-AD47-30EA-B000-7D38B5A339A5}"/>
              </a:ext>
            </a:extLst>
          </p:cNvPr>
          <p:cNvSpPr/>
          <p:nvPr/>
        </p:nvSpPr>
        <p:spPr>
          <a:xfrm>
            <a:off x="4994812" y="1660384"/>
            <a:ext cx="2880000" cy="5400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TASK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Trouver les coordonnées image</a:t>
            </a:r>
          </a:p>
        </p:txBody>
      </p:sp>
      <p:sp>
        <p:nvSpPr>
          <p:cNvPr id="65" name="Flèche : courbe vers la gauche 64">
            <a:extLst>
              <a:ext uri="{FF2B5EF4-FFF2-40B4-BE49-F238E27FC236}">
                <a16:creationId xmlns:a16="http://schemas.microsoft.com/office/drawing/2014/main" id="{8B634101-64B9-22BE-E285-DFAE27A57695}"/>
              </a:ext>
            </a:extLst>
          </p:cNvPr>
          <p:cNvSpPr/>
          <p:nvPr/>
        </p:nvSpPr>
        <p:spPr>
          <a:xfrm>
            <a:off x="7948475" y="735854"/>
            <a:ext cx="311150" cy="509963"/>
          </a:xfrm>
          <a:prstGeom prst="curved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7" name="Flèche : courbe vers la gauche 66">
            <a:extLst>
              <a:ext uri="{FF2B5EF4-FFF2-40B4-BE49-F238E27FC236}">
                <a16:creationId xmlns:a16="http://schemas.microsoft.com/office/drawing/2014/main" id="{86E62131-E1BF-87CF-E7A8-51BA0A8C1B39}"/>
              </a:ext>
            </a:extLst>
          </p:cNvPr>
          <p:cNvSpPr/>
          <p:nvPr/>
        </p:nvSpPr>
        <p:spPr>
          <a:xfrm>
            <a:off x="7967525" y="1420421"/>
            <a:ext cx="311150" cy="509963"/>
          </a:xfrm>
          <a:prstGeom prst="curved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8" name="Rectangle : coins arrondis 67">
            <a:extLst>
              <a:ext uri="{FF2B5EF4-FFF2-40B4-BE49-F238E27FC236}">
                <a16:creationId xmlns:a16="http://schemas.microsoft.com/office/drawing/2014/main" id="{E59270D1-564C-AE26-B9EE-7D3F72B45F69}"/>
              </a:ext>
            </a:extLst>
          </p:cNvPr>
          <p:cNvSpPr/>
          <p:nvPr/>
        </p:nvSpPr>
        <p:spPr>
          <a:xfrm>
            <a:off x="8421937" y="1546907"/>
            <a:ext cx="1119664" cy="25699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Image détordue</a:t>
            </a:r>
          </a:p>
        </p:txBody>
      </p:sp>
      <p:sp>
        <p:nvSpPr>
          <p:cNvPr id="69" name="Flèche : courbe vers la gauche 68">
            <a:extLst>
              <a:ext uri="{FF2B5EF4-FFF2-40B4-BE49-F238E27FC236}">
                <a16:creationId xmlns:a16="http://schemas.microsoft.com/office/drawing/2014/main" id="{4EAEA826-89F0-D250-7380-CA0262BDE526}"/>
              </a:ext>
            </a:extLst>
          </p:cNvPr>
          <p:cNvSpPr/>
          <p:nvPr/>
        </p:nvSpPr>
        <p:spPr>
          <a:xfrm>
            <a:off x="7967525" y="2111213"/>
            <a:ext cx="311150" cy="509963"/>
          </a:xfrm>
          <a:prstGeom prst="curved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09A0632C-C5D7-F3C4-57AC-8EC9982259F0}"/>
              </a:ext>
            </a:extLst>
          </p:cNvPr>
          <p:cNvSpPr/>
          <p:nvPr/>
        </p:nvSpPr>
        <p:spPr>
          <a:xfrm>
            <a:off x="8421936" y="2237699"/>
            <a:ext cx="1957864" cy="25699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Liste de points du repère image</a:t>
            </a:r>
          </a:p>
        </p:txBody>
      </p: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3326B027-1972-9E70-39B6-398BBD37D79A}"/>
              </a:ext>
            </a:extLst>
          </p:cNvPr>
          <p:cNvSpPr/>
          <p:nvPr/>
        </p:nvSpPr>
        <p:spPr>
          <a:xfrm>
            <a:off x="1538650" y="3604960"/>
            <a:ext cx="3175000" cy="1605215"/>
          </a:xfrm>
          <a:prstGeom prst="roundRect">
            <a:avLst>
              <a:gd name="adj" fmla="val 4667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THREAD</a:t>
            </a:r>
          </a:p>
        </p:txBody>
      </p:sp>
      <p:sp>
        <p:nvSpPr>
          <p:cNvPr id="79" name="Rectangle : coins arrondis 78">
            <a:extLst>
              <a:ext uri="{FF2B5EF4-FFF2-40B4-BE49-F238E27FC236}">
                <a16:creationId xmlns:a16="http://schemas.microsoft.com/office/drawing/2014/main" id="{6FDE3C95-BD55-303B-39C9-7AEF75A1F59C}"/>
              </a:ext>
            </a:extLst>
          </p:cNvPr>
          <p:cNvSpPr/>
          <p:nvPr/>
        </p:nvSpPr>
        <p:spPr>
          <a:xfrm>
            <a:off x="1703401" y="4536429"/>
            <a:ext cx="1316326" cy="5400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TASK 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Stream</a:t>
            </a:r>
          </a:p>
        </p:txBody>
      </p:sp>
      <p:sp>
        <p:nvSpPr>
          <p:cNvPr id="80" name="Rectangle : coins arrondis 79">
            <a:extLst>
              <a:ext uri="{FF2B5EF4-FFF2-40B4-BE49-F238E27FC236}">
                <a16:creationId xmlns:a16="http://schemas.microsoft.com/office/drawing/2014/main" id="{B4233566-4666-DC50-8CEA-8AB4EB96F1B1}"/>
              </a:ext>
            </a:extLst>
          </p:cNvPr>
          <p:cNvSpPr/>
          <p:nvPr/>
        </p:nvSpPr>
        <p:spPr>
          <a:xfrm>
            <a:off x="1703401" y="3862683"/>
            <a:ext cx="2880000" cy="5400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TASK 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Annotation image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5F29A3F-3935-31EE-B65C-03002E6FE2C8}"/>
              </a:ext>
            </a:extLst>
          </p:cNvPr>
          <p:cNvSpPr/>
          <p:nvPr/>
        </p:nvSpPr>
        <p:spPr>
          <a:xfrm>
            <a:off x="4855300" y="3604960"/>
            <a:ext cx="3175000" cy="993502"/>
          </a:xfrm>
          <a:prstGeom prst="roundRect">
            <a:avLst>
              <a:gd name="adj" fmla="val 10474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THREAD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0AB4D0B-E9C2-2CF8-DC1F-6B64076343D5}"/>
              </a:ext>
            </a:extLst>
          </p:cNvPr>
          <p:cNvSpPr/>
          <p:nvPr/>
        </p:nvSpPr>
        <p:spPr>
          <a:xfrm>
            <a:off x="4994812" y="3862683"/>
            <a:ext cx="2880000" cy="5400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TASK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Communiquer les coordonnées des éléments à BIG EN BOUCLE</a:t>
            </a:r>
          </a:p>
        </p:txBody>
      </p:sp>
      <p:sp>
        <p:nvSpPr>
          <p:cNvPr id="16" name="Flèche : courbe vers la gauche 15">
            <a:extLst>
              <a:ext uri="{FF2B5EF4-FFF2-40B4-BE49-F238E27FC236}">
                <a16:creationId xmlns:a16="http://schemas.microsoft.com/office/drawing/2014/main" id="{B60F84F7-6C0B-9B7E-EB13-ABC94EBC63F9}"/>
              </a:ext>
            </a:extLst>
          </p:cNvPr>
          <p:cNvSpPr/>
          <p:nvPr/>
        </p:nvSpPr>
        <p:spPr>
          <a:xfrm flipH="1">
            <a:off x="1354587" y="4214986"/>
            <a:ext cx="311150" cy="509963"/>
          </a:xfrm>
          <a:prstGeom prst="curved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40256ED-D26C-0B92-FFA1-320B2FE960A4}"/>
              </a:ext>
            </a:extLst>
          </p:cNvPr>
          <p:cNvSpPr/>
          <p:nvPr/>
        </p:nvSpPr>
        <p:spPr>
          <a:xfrm>
            <a:off x="6530251" y="3166572"/>
            <a:ext cx="1957864" cy="25699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Liste de points du repère terrain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21D68426-51E3-F9C6-218C-A09DB11D384C}"/>
              </a:ext>
            </a:extLst>
          </p:cNvPr>
          <p:cNvCxnSpPr>
            <a:cxnSpLocks/>
            <a:stCxn id="58" idx="2"/>
            <a:endCxn id="3" idx="0"/>
          </p:cNvCxnSpPr>
          <p:nvPr/>
        </p:nvCxnSpPr>
        <p:spPr>
          <a:xfrm>
            <a:off x="6442800" y="2981325"/>
            <a:ext cx="0" cy="623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2AB85A98-32E3-6593-ACC1-B34750D1AC39}"/>
              </a:ext>
            </a:extLst>
          </p:cNvPr>
          <p:cNvSpPr/>
          <p:nvPr/>
        </p:nvSpPr>
        <p:spPr>
          <a:xfrm>
            <a:off x="3267075" y="4536428"/>
            <a:ext cx="1316326" cy="54000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TASK 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Record vidéo</a:t>
            </a:r>
          </a:p>
        </p:txBody>
      </p: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BD4E4805-01E2-4408-5075-726F5878908E}"/>
              </a:ext>
            </a:extLst>
          </p:cNvPr>
          <p:cNvCxnSpPr>
            <a:cxnSpLocks/>
            <a:stCxn id="58" idx="2"/>
            <a:endCxn id="74" idx="0"/>
          </p:cNvCxnSpPr>
          <p:nvPr/>
        </p:nvCxnSpPr>
        <p:spPr>
          <a:xfrm rot="5400000">
            <a:off x="4472658" y="1634817"/>
            <a:ext cx="623635" cy="33166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58CDE725-1D84-6219-A3B0-30CF0937AFFF}"/>
              </a:ext>
            </a:extLst>
          </p:cNvPr>
          <p:cNvSpPr txBox="1"/>
          <p:nvPr/>
        </p:nvSpPr>
        <p:spPr>
          <a:xfrm>
            <a:off x="133350" y="93127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Raleway" pitchFamily="2" charset="0"/>
              </a:rPr>
              <a:t>Architecture software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6A4345D-1C8D-0416-DD9B-75CF7154B5B1}"/>
              </a:ext>
            </a:extLst>
          </p:cNvPr>
          <p:cNvSpPr/>
          <p:nvPr/>
        </p:nvSpPr>
        <p:spPr>
          <a:xfrm>
            <a:off x="3574846" y="3124544"/>
            <a:ext cx="1119664" cy="25699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Image détordue</a:t>
            </a:r>
          </a:p>
        </p:txBody>
      </p:sp>
    </p:spTree>
    <p:extLst>
      <p:ext uri="{BB962C8B-B14F-4D97-AF65-F5344CB8AC3E}">
        <p14:creationId xmlns:p14="http://schemas.microsoft.com/office/powerpoint/2010/main" val="120786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C08CC-1AC1-3377-B415-7DAB6105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2D61BB0-C7E8-E478-2F23-92319AF05ACD}"/>
              </a:ext>
            </a:extLst>
          </p:cNvPr>
          <p:cNvSpPr/>
          <p:nvPr/>
        </p:nvSpPr>
        <p:spPr>
          <a:xfrm>
            <a:off x="660113" y="2170597"/>
            <a:ext cx="1983650" cy="338390"/>
          </a:xfrm>
          <a:prstGeom prst="roundRect">
            <a:avLst>
              <a:gd name="adj" fmla="val 10474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Conversion en noir et blanc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680B6DD-31A5-BE5F-618B-5047CE152459}"/>
              </a:ext>
            </a:extLst>
          </p:cNvPr>
          <p:cNvSpPr txBox="1"/>
          <p:nvPr/>
        </p:nvSpPr>
        <p:spPr>
          <a:xfrm>
            <a:off x="133350" y="93127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Raleway" pitchFamily="2" charset="0"/>
              </a:rPr>
              <a:t>Traitement de l’image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549BABE-D9E3-00A2-6F4F-A20499C03336}"/>
              </a:ext>
            </a:extLst>
          </p:cNvPr>
          <p:cNvSpPr/>
          <p:nvPr/>
        </p:nvSpPr>
        <p:spPr>
          <a:xfrm>
            <a:off x="660113" y="2925357"/>
            <a:ext cx="1983650" cy="338390"/>
          </a:xfrm>
          <a:prstGeom prst="roundRect">
            <a:avLst>
              <a:gd name="adj" fmla="val 10474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Filtre coupe bande gris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653F530B-E305-ED94-99FF-1720028CCA32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1651938" y="2508987"/>
            <a:ext cx="0" cy="41637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C552861-18B0-57D4-5007-4D1D1AC3D28E}"/>
              </a:ext>
            </a:extLst>
          </p:cNvPr>
          <p:cNvSpPr/>
          <p:nvPr/>
        </p:nvSpPr>
        <p:spPr>
          <a:xfrm>
            <a:off x="660113" y="3680117"/>
            <a:ext cx="1983650" cy="338390"/>
          </a:xfrm>
          <a:prstGeom prst="roundRect">
            <a:avLst>
              <a:gd name="adj" fmla="val 10474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Redressement de l’image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B5AF0E33-7D31-6B41-3E42-833116863F08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>
            <a:off x="1651938" y="4018507"/>
            <a:ext cx="0" cy="41637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0C38C58-5118-CFFD-163E-CDC3FC8B7AAA}"/>
              </a:ext>
            </a:extLst>
          </p:cNvPr>
          <p:cNvSpPr/>
          <p:nvPr/>
        </p:nvSpPr>
        <p:spPr>
          <a:xfrm>
            <a:off x="660113" y="4434878"/>
            <a:ext cx="1983650" cy="338390"/>
          </a:xfrm>
          <a:prstGeom prst="roundRect">
            <a:avLst>
              <a:gd name="adj" fmla="val 10474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Distorsion de l’image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72E6A03-65D8-FD00-3D47-61A1C978A0B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651938" y="3263747"/>
            <a:ext cx="0" cy="41637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5E986BA-1C23-D677-4A5C-A9075E991AF5}"/>
              </a:ext>
            </a:extLst>
          </p:cNvPr>
          <p:cNvSpPr/>
          <p:nvPr/>
        </p:nvSpPr>
        <p:spPr>
          <a:xfrm>
            <a:off x="660113" y="1415837"/>
            <a:ext cx="1983650" cy="338390"/>
          </a:xfrm>
          <a:prstGeom prst="roundRect">
            <a:avLst>
              <a:gd name="adj" fmla="val 10474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Correction lumière pourrie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E95FF95-E139-973B-A55B-A70A54243243}"/>
              </a:ext>
            </a:extLst>
          </p:cNvPr>
          <p:cNvCxnSpPr>
            <a:cxnSpLocks/>
            <a:stCxn id="28" idx="2"/>
            <a:endCxn id="3" idx="0"/>
          </p:cNvCxnSpPr>
          <p:nvPr/>
        </p:nvCxnSpPr>
        <p:spPr>
          <a:xfrm>
            <a:off x="1651938" y="1754227"/>
            <a:ext cx="0" cy="41637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37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C5B19-5ED6-9AA4-B5BD-B5BC19B3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2EB21BB-34B3-371C-2660-DBD9999092D4}"/>
              </a:ext>
            </a:extLst>
          </p:cNvPr>
          <p:cNvSpPr txBox="1"/>
          <p:nvPr/>
        </p:nvSpPr>
        <p:spPr>
          <a:xfrm>
            <a:off x="133350" y="93127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Raleway" pitchFamily="2" charset="0"/>
              </a:rPr>
              <a:t>Documents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9737D44-EADA-F28E-C95A-0048D2CBA521}"/>
              </a:ext>
            </a:extLst>
          </p:cNvPr>
          <p:cNvSpPr txBox="1"/>
          <p:nvPr/>
        </p:nvSpPr>
        <p:spPr>
          <a:xfrm>
            <a:off x="390525" y="885825"/>
            <a:ext cx="10448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/>
              <a:t>Picam</a:t>
            </a:r>
            <a:endParaRPr lang="fr-FR" dirty="0"/>
          </a:p>
          <a:p>
            <a:pPr marL="742950" lvl="1" indent="-285750">
              <a:buFontTx/>
              <a:buChar char="-"/>
            </a:pPr>
            <a:r>
              <a:rPr lang="fr-FR" dirty="0"/>
              <a:t>Raspberry</a:t>
            </a:r>
          </a:p>
          <a:p>
            <a:pPr marL="1200150" lvl="2" indent="-285750">
              <a:buFontTx/>
              <a:buChar char="-"/>
            </a:pPr>
            <a:r>
              <a:rPr lang="fr-FR" dirty="0"/>
              <a:t>Src</a:t>
            </a:r>
          </a:p>
          <a:p>
            <a:pPr marL="1200150" lvl="2" indent="-285750">
              <a:buFontTx/>
              <a:buChar char="-"/>
            </a:pPr>
            <a:r>
              <a:rPr lang="fr-FR" dirty="0"/>
              <a:t>Tools</a:t>
            </a:r>
          </a:p>
          <a:p>
            <a:pPr marL="1200150" lvl="2" indent="-285750">
              <a:buFontTx/>
              <a:buChar char="-"/>
            </a:pPr>
            <a:r>
              <a:rPr lang="fr-FR"/>
              <a:t>Setup</a:t>
            </a:r>
          </a:p>
          <a:p>
            <a:pPr marL="742950" lvl="1" indent="-285750">
              <a:buFontTx/>
              <a:buChar char="-"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453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DDEB-1E2E-45E2-2D33-13096FA25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153F0B77-22CB-F992-E7EA-98D58D8D7FED}"/>
              </a:ext>
            </a:extLst>
          </p:cNvPr>
          <p:cNvSpPr/>
          <p:nvPr/>
        </p:nvSpPr>
        <p:spPr>
          <a:xfrm>
            <a:off x="5346700" y="3174018"/>
            <a:ext cx="1498600" cy="683607"/>
          </a:xfrm>
          <a:prstGeom prst="roundRect">
            <a:avLst>
              <a:gd name="adj" fmla="val 4667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200" dirty="0">
                <a:solidFill>
                  <a:schemeClr val="tx1"/>
                </a:solidFill>
                <a:latin typeface="Raleway" pitchFamily="2" charset="0"/>
              </a:rPr>
              <a:t>Raspberry Pi 5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7F02F90-840E-C17E-9322-E5EE948E8EAF}"/>
              </a:ext>
            </a:extLst>
          </p:cNvPr>
          <p:cNvSpPr txBox="1"/>
          <p:nvPr/>
        </p:nvSpPr>
        <p:spPr>
          <a:xfrm>
            <a:off x="133350" y="93127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Raleway" pitchFamily="2" charset="0"/>
              </a:rPr>
              <a:t>Architecture hardware</a:t>
            </a:r>
          </a:p>
        </p:txBody>
      </p:sp>
      <p:pic>
        <p:nvPicPr>
          <p:cNvPr id="6" name="Graphique 5" descr="Processeur contour">
            <a:extLst>
              <a:ext uri="{FF2B5EF4-FFF2-40B4-BE49-F238E27FC236}">
                <a16:creationId xmlns:a16="http://schemas.microsoft.com/office/drawing/2014/main" id="{69FB6DC7-4741-9790-4F27-5770C30A6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6000" y="3429000"/>
            <a:ext cx="360000" cy="36000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41780AA0-C295-66ED-4D85-A42CFD1B8D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2737" y="3429000"/>
            <a:ext cx="360000" cy="360000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1C052BCC-B92A-A324-F4D8-ED4CF80EA5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63924" y="4118487"/>
            <a:ext cx="360000" cy="360000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E8CA547E-3CCF-5FDB-0F68-9DC7961633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14050" y="4508993"/>
            <a:ext cx="360000" cy="360000"/>
          </a:xfrm>
          <a:prstGeom prst="rect">
            <a:avLst/>
          </a:prstGeom>
        </p:spPr>
      </p:pic>
      <p:pic>
        <p:nvPicPr>
          <p:cNvPr id="24" name="Graphique 23">
            <a:extLst>
              <a:ext uri="{FF2B5EF4-FFF2-40B4-BE49-F238E27FC236}">
                <a16:creationId xmlns:a16="http://schemas.microsoft.com/office/drawing/2014/main" id="{FFD49504-A31F-B2FB-DCE0-174725FC09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63924" y="2931256"/>
            <a:ext cx="360000" cy="360000"/>
          </a:xfrm>
          <a:prstGeom prst="rect">
            <a:avLst/>
          </a:prstGeom>
        </p:spPr>
      </p:pic>
      <p:pic>
        <p:nvPicPr>
          <p:cNvPr id="30" name="Graphique 29">
            <a:extLst>
              <a:ext uri="{FF2B5EF4-FFF2-40B4-BE49-F238E27FC236}">
                <a16:creationId xmlns:a16="http://schemas.microsoft.com/office/drawing/2014/main" id="{56234205-A0A3-0A28-4D32-F1F96D19D6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15999" y="1751362"/>
            <a:ext cx="360000" cy="360000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F518FA2C-1D4E-90A1-97CF-2C95460F20C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79487" y="3442116"/>
            <a:ext cx="360000" cy="360000"/>
          </a:xfrm>
          <a:prstGeom prst="rect">
            <a:avLst/>
          </a:prstGeom>
        </p:spPr>
      </p:pic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81010AAB-CB81-D87C-1C42-88790F5E996E}"/>
              </a:ext>
            </a:extLst>
          </p:cNvPr>
          <p:cNvSpPr/>
          <p:nvPr/>
        </p:nvSpPr>
        <p:spPr>
          <a:xfrm>
            <a:off x="5643562" y="1462433"/>
            <a:ext cx="904875" cy="683607"/>
          </a:xfrm>
          <a:prstGeom prst="roundRect">
            <a:avLst>
              <a:gd name="adj" fmla="val 4667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200" dirty="0">
                <a:solidFill>
                  <a:schemeClr val="tx1"/>
                </a:solidFill>
                <a:latin typeface="Raleway" pitchFamily="2" charset="0"/>
              </a:rPr>
              <a:t>Battery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B5DA31D7-260E-2816-DE4F-E5165DD56079}"/>
              </a:ext>
            </a:extLst>
          </p:cNvPr>
          <p:cNvSpPr/>
          <p:nvPr/>
        </p:nvSpPr>
        <p:spPr>
          <a:xfrm>
            <a:off x="5346700" y="2434969"/>
            <a:ext cx="1498600" cy="367825"/>
          </a:xfrm>
          <a:prstGeom prst="roundRect">
            <a:avLst>
              <a:gd name="adj" fmla="val 4667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200" dirty="0">
                <a:solidFill>
                  <a:schemeClr val="tx1"/>
                </a:solidFill>
                <a:latin typeface="Raleway" pitchFamily="2" charset="0"/>
              </a:rPr>
              <a:t>Traco 24V -&gt; 5V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3FDDD0A-8E27-F2D4-731B-760322AB6316}"/>
              </a:ext>
            </a:extLst>
          </p:cNvPr>
          <p:cNvSpPr/>
          <p:nvPr/>
        </p:nvSpPr>
        <p:spPr>
          <a:xfrm>
            <a:off x="5346699" y="4228849"/>
            <a:ext cx="1498600" cy="683607"/>
          </a:xfrm>
          <a:prstGeom prst="roundRect">
            <a:avLst>
              <a:gd name="adj" fmla="val 4667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200" dirty="0">
                <a:solidFill>
                  <a:schemeClr val="tx1"/>
                </a:solidFill>
                <a:latin typeface="Raleway" pitchFamily="2" charset="0"/>
              </a:rPr>
              <a:t>Caméra</a:t>
            </a: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2754DD52-4656-E46B-CD3F-63668F0F5549}"/>
              </a:ext>
            </a:extLst>
          </p:cNvPr>
          <p:cNvCxnSpPr>
            <a:cxnSpLocks/>
            <a:stCxn id="74" idx="2"/>
            <a:endCxn id="35" idx="0"/>
          </p:cNvCxnSpPr>
          <p:nvPr/>
        </p:nvCxnSpPr>
        <p:spPr>
          <a:xfrm flipH="1">
            <a:off x="6095999" y="3857625"/>
            <a:ext cx="1" cy="37122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73DED747-88D2-40FF-3164-FDD13204B10B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>
            <a:off x="6096000" y="2146040"/>
            <a:ext cx="0" cy="28892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B2B08376-FB67-2251-D314-56142B009CEC}"/>
              </a:ext>
            </a:extLst>
          </p:cNvPr>
          <p:cNvCxnSpPr>
            <a:cxnSpLocks/>
            <a:stCxn id="34" idx="2"/>
            <a:endCxn id="74" idx="0"/>
          </p:cNvCxnSpPr>
          <p:nvPr/>
        </p:nvCxnSpPr>
        <p:spPr>
          <a:xfrm>
            <a:off x="6096000" y="2802794"/>
            <a:ext cx="0" cy="37122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46B13E79-5D0E-4B8C-EC85-57BD8B8AA729}"/>
              </a:ext>
            </a:extLst>
          </p:cNvPr>
          <p:cNvSpPr/>
          <p:nvPr/>
        </p:nvSpPr>
        <p:spPr>
          <a:xfrm>
            <a:off x="7794624" y="3800243"/>
            <a:ext cx="1498600" cy="683607"/>
          </a:xfrm>
          <a:prstGeom prst="roundRect">
            <a:avLst>
              <a:gd name="adj" fmla="val 4667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200" dirty="0">
                <a:solidFill>
                  <a:schemeClr val="tx1"/>
                </a:solidFill>
                <a:latin typeface="Raleway" pitchFamily="2" charset="0"/>
              </a:rPr>
              <a:t>SSD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D01F46E0-3735-1789-1F5F-F4A458FBE368}"/>
              </a:ext>
            </a:extLst>
          </p:cNvPr>
          <p:cNvSpPr/>
          <p:nvPr/>
        </p:nvSpPr>
        <p:spPr>
          <a:xfrm>
            <a:off x="7794624" y="2629151"/>
            <a:ext cx="1498600" cy="683607"/>
          </a:xfrm>
          <a:prstGeom prst="roundRect">
            <a:avLst>
              <a:gd name="adj" fmla="val 4667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200" dirty="0">
                <a:solidFill>
                  <a:schemeClr val="tx1"/>
                </a:solidFill>
                <a:latin typeface="Raleway" pitchFamily="2" charset="0"/>
              </a:rPr>
              <a:t>Ecran</a:t>
            </a: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0C47841B-E2EB-72C2-C4DD-0DDE522A13A2}"/>
              </a:ext>
            </a:extLst>
          </p:cNvPr>
          <p:cNvSpPr/>
          <p:nvPr/>
        </p:nvSpPr>
        <p:spPr>
          <a:xfrm>
            <a:off x="3373437" y="3174017"/>
            <a:ext cx="1498600" cy="683607"/>
          </a:xfrm>
          <a:prstGeom prst="roundRect">
            <a:avLst>
              <a:gd name="adj" fmla="val 4667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200" dirty="0">
                <a:solidFill>
                  <a:schemeClr val="tx1"/>
                </a:solidFill>
                <a:latin typeface="Raleway" pitchFamily="2" charset="0"/>
              </a:rPr>
              <a:t>Shield</a:t>
            </a: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63A1D31D-E1CD-C34F-04E3-BB4CEEAE1E46}"/>
              </a:ext>
            </a:extLst>
          </p:cNvPr>
          <p:cNvSpPr/>
          <p:nvPr/>
        </p:nvSpPr>
        <p:spPr>
          <a:xfrm>
            <a:off x="1410187" y="3174018"/>
            <a:ext cx="1498600" cy="683607"/>
          </a:xfrm>
          <a:prstGeom prst="roundRect">
            <a:avLst>
              <a:gd name="adj" fmla="val 4667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200" dirty="0">
                <a:solidFill>
                  <a:schemeClr val="tx1"/>
                </a:solidFill>
                <a:latin typeface="Raleway" pitchFamily="2" charset="0"/>
              </a:rPr>
              <a:t>Antenne</a:t>
            </a:r>
          </a:p>
        </p:txBody>
      </p: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7D985837-0E62-C42A-F658-7640CF3C053E}"/>
              </a:ext>
            </a:extLst>
          </p:cNvPr>
          <p:cNvCxnSpPr>
            <a:cxnSpLocks/>
            <a:stCxn id="74" idx="3"/>
            <a:endCxn id="47" idx="1"/>
          </p:cNvCxnSpPr>
          <p:nvPr/>
        </p:nvCxnSpPr>
        <p:spPr>
          <a:xfrm>
            <a:off x="6845300" y="3515822"/>
            <a:ext cx="949324" cy="62622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952C2C62-E979-284C-9A2B-8809B6AD6FF2}"/>
              </a:ext>
            </a:extLst>
          </p:cNvPr>
          <p:cNvCxnSpPr>
            <a:cxnSpLocks/>
            <a:stCxn id="74" idx="3"/>
            <a:endCxn id="50" idx="1"/>
          </p:cNvCxnSpPr>
          <p:nvPr/>
        </p:nvCxnSpPr>
        <p:spPr>
          <a:xfrm flipV="1">
            <a:off x="6845300" y="2970955"/>
            <a:ext cx="949324" cy="54486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18ADC599-43F4-38D4-CC34-1BE44DE8C38F}"/>
              </a:ext>
            </a:extLst>
          </p:cNvPr>
          <p:cNvCxnSpPr>
            <a:cxnSpLocks/>
            <a:stCxn id="53" idx="1"/>
            <a:endCxn id="54" idx="3"/>
          </p:cNvCxnSpPr>
          <p:nvPr/>
        </p:nvCxnSpPr>
        <p:spPr>
          <a:xfrm flipH="1">
            <a:off x="2908787" y="3515821"/>
            <a:ext cx="464650" cy="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D3DC6986-850E-1B7D-3A11-6BAE51D7A8BC}"/>
              </a:ext>
            </a:extLst>
          </p:cNvPr>
          <p:cNvCxnSpPr>
            <a:cxnSpLocks/>
            <a:stCxn id="74" idx="1"/>
            <a:endCxn id="53" idx="3"/>
          </p:cNvCxnSpPr>
          <p:nvPr/>
        </p:nvCxnSpPr>
        <p:spPr>
          <a:xfrm flipH="1" flipV="1">
            <a:off x="4872037" y="3515821"/>
            <a:ext cx="474663" cy="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39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FEC82-4347-FA8B-0747-07B16CA6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F91AB1E8-672F-6205-DAF2-E3A7E2A3F5C5}"/>
              </a:ext>
            </a:extLst>
          </p:cNvPr>
          <p:cNvSpPr txBox="1"/>
          <p:nvPr/>
        </p:nvSpPr>
        <p:spPr>
          <a:xfrm>
            <a:off x="133350" y="93127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Raleway" pitchFamily="2" charset="0"/>
              </a:rPr>
              <a:t>Architecture hardware</a:t>
            </a:r>
          </a:p>
        </p:txBody>
      </p:sp>
      <p:pic>
        <p:nvPicPr>
          <p:cNvPr id="3" name="Image 2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08DFF7E0-0333-2AFF-92F6-5F3443D86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577" y="700539"/>
            <a:ext cx="2983748" cy="3225800"/>
          </a:xfrm>
          <a:prstGeom prst="rect">
            <a:avLst/>
          </a:prstGeom>
        </p:spPr>
      </p:pic>
      <p:pic>
        <p:nvPicPr>
          <p:cNvPr id="5" name="Image 4" descr="Une image contenant texte, Appareils électroniques, Composant électronique, Ingénierie électronique&#10;&#10;Le contenu généré par l’IA peut être incorrect.">
            <a:extLst>
              <a:ext uri="{FF2B5EF4-FFF2-40B4-BE49-F238E27FC236}">
                <a16:creationId xmlns:a16="http://schemas.microsoft.com/office/drawing/2014/main" id="{FA30F4A4-21FF-5167-8232-819C59156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554792"/>
            <a:ext cx="6070948" cy="351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BD2F3-B73D-27D8-2F50-0AD2C677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93248D09-1ED3-A8AF-8897-90CBCAB5A83B}"/>
              </a:ext>
            </a:extLst>
          </p:cNvPr>
          <p:cNvSpPr txBox="1"/>
          <p:nvPr/>
        </p:nvSpPr>
        <p:spPr>
          <a:xfrm>
            <a:off x="133350" y="93127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Raleway" pitchFamily="2" charset="0"/>
              </a:rPr>
              <a:t>To Do List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2B812DB-9BD6-D7BC-91AB-4CCC8CC1A512}"/>
              </a:ext>
            </a:extLst>
          </p:cNvPr>
          <p:cNvSpPr txBox="1"/>
          <p:nvPr/>
        </p:nvSpPr>
        <p:spPr>
          <a:xfrm>
            <a:off x="133349" y="712252"/>
            <a:ext cx="48348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200" dirty="0">
                <a:latin typeface="Raleway" pitchFamily="2" charset="0"/>
              </a:rPr>
              <a:t>Dev action « passer des coordonnées image à des coordonnées terrain »</a:t>
            </a:r>
          </a:p>
          <a:p>
            <a:pPr marL="171450" indent="-171450">
              <a:buFontTx/>
              <a:buChar char="-"/>
            </a:pPr>
            <a:r>
              <a:rPr lang="fr-FR" sz="1200" dirty="0">
                <a:latin typeface="Raleway" pitchFamily="2" charset="0"/>
              </a:rPr>
              <a:t>Porter action « détordre image » sur </a:t>
            </a:r>
            <a:r>
              <a:rPr lang="fr-FR" sz="1200" dirty="0" err="1">
                <a:latin typeface="Raleway" pitchFamily="2" charset="0"/>
              </a:rPr>
              <a:t>rpi</a:t>
            </a:r>
            <a:endParaRPr lang="fr-FR" sz="1200" dirty="0">
              <a:latin typeface="Raleway" pitchFamily="2" charset="0"/>
            </a:endParaRPr>
          </a:p>
          <a:p>
            <a:pPr marL="171450" indent="-171450">
              <a:buFontTx/>
              <a:buChar char="-"/>
            </a:pPr>
            <a:r>
              <a:rPr lang="fr-FR" sz="1200" dirty="0">
                <a:latin typeface="Raleway" pitchFamily="2" charset="0"/>
              </a:rPr>
              <a:t>Porter action « trouver coordonnées images »sur </a:t>
            </a:r>
            <a:r>
              <a:rPr lang="fr-FR" sz="1200" dirty="0" err="1">
                <a:latin typeface="Raleway" pitchFamily="2" charset="0"/>
              </a:rPr>
              <a:t>rpi</a:t>
            </a:r>
            <a:endParaRPr lang="fr-FR" sz="1200" dirty="0">
              <a:latin typeface="Raleway" pitchFamily="2" charset="0"/>
            </a:endParaRPr>
          </a:p>
          <a:p>
            <a:pPr marL="171450" indent="-171450">
              <a:buFontTx/>
              <a:buChar char="-"/>
            </a:pPr>
            <a:r>
              <a:rPr lang="fr-FR" sz="1200" dirty="0">
                <a:latin typeface="Raleway" pitchFamily="2" charset="0"/>
              </a:rPr>
              <a:t>Porter action « passer des coordonnées image à des coordonnées terrain »</a:t>
            </a:r>
          </a:p>
          <a:p>
            <a:pPr marL="171450" indent="-171450">
              <a:buFontTx/>
              <a:buChar char="-"/>
            </a:pPr>
            <a:endParaRPr lang="fr-FR" sz="1200" dirty="0">
              <a:latin typeface="Raleway" pitchFamily="2" charset="0"/>
            </a:endParaRPr>
          </a:p>
          <a:p>
            <a:pPr marL="171450" indent="-171450">
              <a:buFontTx/>
              <a:buChar char="-"/>
            </a:pPr>
            <a:r>
              <a:rPr lang="fr-FR" sz="1200" dirty="0">
                <a:latin typeface="Raleway" pitchFamily="2" charset="0"/>
              </a:rPr>
              <a:t>Ajouter des logs !!!</a:t>
            </a:r>
          </a:p>
          <a:p>
            <a:pPr marL="171450" indent="-171450">
              <a:buFontTx/>
              <a:buChar char="-"/>
            </a:pPr>
            <a:endParaRPr lang="fr-FR" sz="1200" dirty="0">
              <a:latin typeface="Raleway" pitchFamily="2" charset="0"/>
            </a:endParaRPr>
          </a:p>
          <a:p>
            <a:pPr marL="171450" indent="-171450">
              <a:buFontTx/>
              <a:buChar char="-"/>
            </a:pPr>
            <a:endParaRPr lang="fr-FR" sz="1200" dirty="0">
              <a:latin typeface="Raleway" pitchFamily="2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4F7F7B1-7DE9-97BD-2866-653D419BF6A1}"/>
              </a:ext>
            </a:extLst>
          </p:cNvPr>
          <p:cNvSpPr txBox="1"/>
          <p:nvPr/>
        </p:nvSpPr>
        <p:spPr>
          <a:xfrm>
            <a:off x="4968241" y="103287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Raleway" pitchFamily="2" charset="0"/>
              </a:rPr>
              <a:t>Problème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370FBF-820F-5C7E-02C5-9AB3905250C2}"/>
              </a:ext>
            </a:extLst>
          </p:cNvPr>
          <p:cNvSpPr txBox="1"/>
          <p:nvPr/>
        </p:nvSpPr>
        <p:spPr>
          <a:xfrm>
            <a:off x="4968240" y="712252"/>
            <a:ext cx="4834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200" dirty="0">
                <a:latin typeface="Raleway" pitchFamily="2" charset="0"/>
              </a:rPr>
              <a:t>Ne fonctionne pas si il manque un </a:t>
            </a:r>
            <a:r>
              <a:rPr lang="fr-FR" sz="1200" dirty="0" err="1">
                <a:latin typeface="Raleway" pitchFamily="2" charset="0"/>
              </a:rPr>
              <a:t>qr</a:t>
            </a:r>
            <a:r>
              <a:rPr lang="fr-FR" sz="1200" dirty="0">
                <a:latin typeface="Raleway" pitchFamily="2" charset="0"/>
              </a:rPr>
              <a:t> code fixe</a:t>
            </a:r>
          </a:p>
        </p:txBody>
      </p:sp>
    </p:spTree>
    <p:extLst>
      <p:ext uri="{BB962C8B-B14F-4D97-AF65-F5344CB8AC3E}">
        <p14:creationId xmlns:p14="http://schemas.microsoft.com/office/powerpoint/2010/main" val="1865527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162</Words>
  <Application>Microsoft Office PowerPoint</Application>
  <PresentationFormat>Grand écran</PresentationFormat>
  <Paragraphs>57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Raleway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GAME Noé</dc:creator>
  <cp:lastModifiedBy>GAME Noé</cp:lastModifiedBy>
  <cp:revision>10</cp:revision>
  <dcterms:created xsi:type="dcterms:W3CDTF">2025-11-22T16:46:56Z</dcterms:created>
  <dcterms:modified xsi:type="dcterms:W3CDTF">2025-11-28T20:09:55Z</dcterms:modified>
</cp:coreProperties>
</file>